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80" r:id="rId13"/>
    <p:sldId id="281" r:id="rId14"/>
    <p:sldId id="275" r:id="rId15"/>
    <p:sldId id="282" r:id="rId16"/>
    <p:sldId id="283" r:id="rId17"/>
    <p:sldId id="276" r:id="rId18"/>
    <p:sldId id="284" r:id="rId19"/>
    <p:sldId id="285" r:id="rId20"/>
    <p:sldId id="286" r:id="rId21"/>
    <p:sldId id="277" r:id="rId22"/>
    <p:sldId id="287" r:id="rId2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61153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 of ML &amp; DL Algorithms for Stock Market Prediction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Danish Awasthi, Mayank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2210990247,2210990467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Swati 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  Introduction ................................. 3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 Related Work ................................. 4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  Dataset and Feature Engineering .............. 5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  Methodology and Model Configurations ......... 6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  LSTM Architecture ............................ 7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  Experimental Results — 80:20 Split ........... 8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7.  Error Metrics Chart (MAE / RMSE / MAPE) ...... 9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8.  R² Score Comparison Chart .............. 10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9.  Multi-Split Evaluation ...................... 11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10. Multi-Split Trend Chart ..................... 12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11. Actual vs Predicted Price Chart ............. 13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12. Scalability and Complexity Analysis ......... 14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13. Feature Importance Chart .................... 15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14. Training Time Chart ......................... 16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15. Multi-Dimensional Capability Radar .......... 17</a:t>
            </a:r>
          </a:p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16.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..................................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Background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Stock market prediction is a challenging problem due to non-linear, volatile, and constantly changing financial time-series data.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Traditional methods (ARIMA, exponential smoothing) struggle with non-linear dependencies in stock data.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ML ensemble methods (Random Forest, Gradient Boosting) and DL models (LSTM) have emerged as powerful alternatives.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Research Gap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Most prior studies evaluate ML and DL models in isolation, with inconsistent preprocessing and evaluation metrics.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Practical deployment aspects (complexity, scalability, latency) are rarely addressed.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Study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Unified comparison of 6 ML models + LSTM on identical dataset, features, and chronological splits.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Includes 18 engineered technical indicators and scalability/deployment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6488" y="837720"/>
            <a:ext cx="8659952" cy="415720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Traditional Machine Learning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Ravikumar &amp; Saraf (2020): Random Forest achieved highest regression accuracy among 6 ML models.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Singh et al. (2021): Gradient Boosting outperformed SVM via iterative error correction.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Vazirani et al. (2020): Hybrid Linear Regression model outperformed individual algorithms.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Deep Learning — LSTM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Hochreiter &amp; Schmidhuber (1997): Introduced LSTM to solve the vanishing gradient problem.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Fischer &amp; Krauss (2018): LSTM outperformed DNN, Random Forest, and LR on S&amp;P 500 directional prediction.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Moghar &amp; Hamiche (2020): LSTM showed lower RMSE than standard RNN for longer horizons.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 Gap Addressed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prior work performs a controlled ML vs. LSTM comparison with scalability analysis under identical experimental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Feature Engineering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Apple Inc. (AAPL) OHLCV data from Yahoo Finance: January 2015 to December 2024 (~2,515 trading days).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Target variable: Next-day closing price (one-step-ahead regression problem).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After feature engineering and NaN removal: ~2,440 usable data points.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18 Engineered Technical Indicators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Moving Averages: MA-7, MA-20, MA-50; Exponential MAs: EMA-12, EMA-26.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MACD (EMA-12 minus EMA-26), RSI (14-day), Bollinger Bands (MA-20 ± 2 std), ROC (5-day), Rolling Volatility (20-period).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Temporal features: day of week and month.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Preprocessing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Min-Max normalization to [0,1]. Time-ordered (chronological) train-test splits: 70:30, 80:20, 90:10.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Scalers fitted only on training data to prevent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Model Configurations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Six ML Models (scikit-learn)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Linear Regression — baseline closed-form model.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Decision Tree — max depth 10; greedy recursive splitting.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Forest — 200 trees, max depth 10, n_jobs=-1 (parallelised).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Boosting — 200 trees, max depth 5, learning rate 0.05 (sequential).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SVR — RBF kernel, C=100, gamma=0.1 (quadratic programming).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KNN — 7 neighbours, Euclidean distance (lazy learner).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Evaluation Metrics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MAE, RMSE, R² (R-squared), MAPE — computed on test set per chronological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Network Design (TensorFlow/Keras)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Input: 60-day look-back window of normalised closing prices.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1: LSTM (128 neurons) + Dropout (rate = 0.2).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2: LSTM (64 neurons) + Dropout (rate = 0.2).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Layer 3: LSTM (32 neurons) + Dropout (rate = 0.2).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Dense hidden layer (16 neurons, ReLU) → Output layer (1 neuron).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Training Configuration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Optimiser: Adam (lr = 0.001) | Loss: Mean Squared Error (MSE).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Up to 100 epochs, batch size 32. GPU/CPU matrix operations.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 Characteristic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Designed to capture long-term temporal dependencies, but requires significantly more compute than ML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— 80:20 Split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Performance Ranking (80:20 Train-Test Split)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1st  Gradient Boosting: MAE=2.84, RMSE=4.21, R²=0.9891, MAPE=1.63%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2nd  Random Forest: MAE=3.12, RMSE=4.85, R²=0.9853, MAPE=1.88%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3rd  LSTM: MAE=4.67, RMSE=6.43, R²=0.9742, MAPE=2.31%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4th  SVM (SVR): MAE=5.21, RMSE=7.82, R²=0.9601, MAPE=2.97%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5th  Linear Regression: MAE=6.45, RMSE=9.13, R²=0.9388, MAPE=3.78%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6th  KNN: MAE=7.18, RMSE=10.24, R²=0.9201, MAPE=4.21%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7th  Decision Tree: MAE=9.83, RMSE=14.67, R²=0.8614, MAPE=5.89%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Key Insight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Boosting’s sequential learning (each tree corrects prior errors) drives its superior performance over LSTM.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6840" y="96740"/>
            <a:ext cx="571536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Results: Error Metrics Comparison (80:20 Split)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-961200" y="98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MAE, RMSE, and MAPE across all 7 models — lower is better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420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291072" y="1170432"/>
            <a:ext cx="2658928" cy="397956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achieves lowest MAE (2.84), RMSE (4.21), and MAPE (1.63%)  best overall.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Random Forest is a close second across all three error metrics.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Decision Tree has the worst performance with RMSE = 14.67.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LSTM ranks 3rd, outperforming SVR, Linear Regression, KNN, and Decision Tree.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0000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Results: R² Score Comparison (80:20 Split)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-1014800" y="955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R² score measures variance explained — closer to 1.0 is better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50000" y="1420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254496" y="1235000"/>
            <a:ext cx="2695504" cy="3915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(R² = 0.9891) explains ~98.9% of price variance.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All ensemble models (GB, RF) outperform the LSTM baseline of 0.9742.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Decision Tree has the lowest R² (0.8614), explaining ~14% less variance than GB.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Deep Learning (LSTM) is strong but not superior to ensemble ML on structured financial data.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Multi-Split Evaluation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Results Across 70:30, 80:20, 90:10 Splits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Boosting R²: 0.9866 (70:30) → 0.9891 (80:20) → 0.9907 (90:10)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Forest R²: 0.9831 (70:30) → 0.9853 (80:20) → 0.9871 (90:10)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LSTM R²: 0.9688 (70:30) → 0.9742 (80:20) → 0.9761 (90:10)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Observations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All models improve consistently as training data increases — no overfitting detected.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Boosting maintains the highest R² across all three splits.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LSTM shows a comparable improvement trend but consistently ranks 3rd.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Feature Importance (Random Forest)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Top features: Close, High, Low, Open prices + short-term indicators (MA-7, EMA-12).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RSI and MACD contribute as secondary signals; calendar features (weekday, month) contribute negligibly.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-301752" y="20000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Results: Multi-Split R² Trend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456840" y="87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Performance across 70:30, 80:20, and 90:10 chronological train-test splits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50000" y="1300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062472" y="1300000"/>
            <a:ext cx="2887528" cy="38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All three top models improve consistently as training data increases.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consistently leads: 0.9866 → 0.9891 → 0.9907.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LSTM improves from 0.9688 to 0.9761 but remains below both ensemble models.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Robust performance across all splits confirms no significant overfitting.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-795528" y="75740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Actual vs Predicted — AAPL Stock Price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0" y="95787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Sample test-set predictions: Gradient Boosting tracks actual price more closely than LSTM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94000" y="1379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153912" y="1420000"/>
            <a:ext cx="2796088" cy="373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predictions (dashed) stay tightly around the actual price line.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LSTM predictions (dotted) show slightly higher variance, especially during volatile swings.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Both models correctly follow the general price trend across 120 test trading days.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Lower residual spread for GB confirms its superior RMSE and MAE scores quantitatively.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82880" y="0"/>
            <a:ext cx="658368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Computational Complexity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07160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Training Time (on Intel Core i5, 16 GB RAM, ~2,000 samples)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Linear Regression: ~0.1 sec | KNN: ~0 sec (lazy) | Decision Tree: ~0.5 sec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Forest: ~5-8 sec (parallelised) | Gradient Boosting: ~15-20 sec (sequential)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SVR: ~20-30 sec | LSTM: ~5-10 minutes (backpropagation over 100 epochs)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Theoretical Complexity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Linear Regression: O(n×d²) | Decision Tree / RF / GB: O(T×n×d×log n)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SVR: O(n² to n³) — slow for large n | LSTM: O(epochs×batches×H²)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Multi-Stock Scalability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ML models scale linearly — 10 stocks takes ~10x time; no special hardware needed.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LSTM requires GPU cluster for multi-stock deployment; per-stock model takes 5-10 min each.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Gradient Boosting recommended for real-time production: ~0.1 sec inference, no GPU, interpretable.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-609840" y="27432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Feature Importance (Random Forest)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64008" y="903356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Normalised feature importance across all 18 engineered technical indicators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94000" y="1379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153912" y="1379000"/>
            <a:ext cx="2796088" cy="3771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OHLCV price features (Close, High, Low, Open) dominate — collectively ~63% importance.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Short-term indicators MA-7 and EMA-12 are the most informative technical features.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RSI and MACD contribute as secondary momentum signals.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Calendar features (weekday, month) contribute negligibly — confirming price-driven prediction.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-475488" y="75740"/>
            <a:ext cx="7342632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Scalability: Training and Prediction Time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-609840" y="82187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Training and prediction time on Intel Core i5, 16 GB RAM with ~2,000 samples (log scale)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94000" y="1379000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5952744" y="1252728"/>
            <a:ext cx="2997256" cy="389727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LSTM requires ~5–10 minutes to train vs. seconds for all ML models.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trains in 15–20 sec; prediction is ~0.1 sec — suitable for real-time use.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KNN has zero training time (lazy learner) but slow prediction due to exhaustive search.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Log scale highlights the ~200× training time difference between LSTM and ML models.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0584" y="98434"/>
            <a:ext cx="6620256" cy="7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3A5C"/>
                </a:solidFill>
                <a:latin typeface="Times New Roman" pitchFamily="18" charset="0"/>
              </a:rPr>
              <a:t>Multi-Dimensional Capability Comparison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457200" y="846868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1400" i="1" dirty="0">
                <a:solidFill>
                  <a:srgbClr val="555555"/>
                </a:solidFill>
                <a:latin typeface="Times New Roman" pitchFamily="18" charset="0"/>
              </a:rPr>
              <a:t>Radar chart scoring models on Accuracy, Speed, Scalability, Interpretability, and Low Resource use</a:t>
            </a:r>
          </a:p>
        </p:txBody>
      </p:sp>
      <p:pic>
        <p:nvPicPr>
          <p:cNvPr id="4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50000" y="1223736"/>
            <a:ext cx="5500000" cy="4100000"/>
          </a:xfrm>
          <a:prstGeom prst="rect">
            <a:avLst/>
          </a:prstGeom>
        </p:spPr>
      </p:pic>
      <p:sp>
        <p:nvSpPr>
          <p:cNvPr id="5" name="Insights"/>
          <p:cNvSpPr txBox="1"/>
          <p:nvPr/>
        </p:nvSpPr>
        <p:spPr>
          <a:xfrm>
            <a:off x="6108192" y="1420000"/>
            <a:ext cx="2841808" cy="373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1A3A5C"/>
                </a:solidFill>
                <a:latin typeface="Times New Roman" pitchFamily="18" charset="0"/>
              </a:rPr>
              <a:t>Key Insights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Gradient Boosting leads on 4 of 5 dimensions — strongest all-round production model.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Random Forest is a balanced second choice with similar capability profile.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LSTM scores high on accuracy but significantly low on Speed, Scalability, and Resources.</a:t>
            </a:r>
          </a:p>
          <a:p>
            <a:pPr marL="180000">
              <a:lnSpc>
                <a:spcPct val="100000"/>
              </a:lnSpc>
              <a:spcBef>
                <a:spcPts val="180"/>
              </a:spcBef>
              <a:buChar char="•"/>
            </a:pPr>
            <a:r>
              <a:rPr lang="en-US" sz="1500" dirty="0">
                <a:solidFill>
                  <a:srgbClr val="222222"/>
                </a:solidFill>
                <a:latin typeface="Times New Roman" pitchFamily="18" charset="0"/>
              </a:rPr>
              <a:t>For production deployment, Gradient Boosting’s profile makes it the clear recommendation.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fld id="{00000000-0001-0002-0003-00000000000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Deep Learning is NOT Always Superior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LSTM achieved R²=0.9742 — strong, but Gradient Boosting (0.9891) and Random Forest (0.9853) outperformed it.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DL’s edge is most evident for unstructured data (text, images); structured financial data favours ensemble ML.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Feature Engineering is Critical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18 technical indicators allow ML models to detect patterns without explicit sequence modelling.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Residuals for Gradient Boosting and Random Forest are closer to zero; LSTM shows higher variance in volatile periods (2020 crash, 2022 correction).</a:t>
            </a:r>
          </a:p>
          <a:p>
            <a:pPr marL="228600">
              <a:lnSpc>
                <a:spcPct val="100000"/>
              </a:lnSpc>
              <a:spcBef>
                <a:spcPts val="15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Practical Deployment Recommendation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Production systems: Use Gradient Boosting — fast training, low latency, interpretable, linear scalability.</a:t>
            </a:r>
          </a:p>
          <a:p>
            <a:pPr marL="457200">
              <a:lnSpc>
                <a:spcPct val="100000"/>
              </a:lnSpc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Research / long-horizon / multi-asset tasks: Use LSTM or Transformer models for sequence-based learning.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 Hybrid Architectures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Deep Learning excels at extracting non-linear features while Gradient Boosting handles structured data and residuals well, you can combine them: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Boosting: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the LSTM or Transformer first, and feed its predictive residuals into a Gradient Boosting model to capture what the sequence model misses.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Tree-Feature Extraction: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 Random Forest or Gradient Boosting algorithm to extract the most critical feature interactions, then pass those selected high-importance features into your LSTM to reduce noise.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Advance Sequence-Based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solely on baseline LSTMs, explore modern sequence architectures that solve the forgetting and gradient-vanishing issues you observed during volatile periods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multi-head self-attention mechanisms to allow the model to directly weight previous market crashes or corrections, rather than relying on sequential memory.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Convolutional Networks (TCNs):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TCNs generally outperform standard RNNs/LSTMs in time-series forecasting by providing larger receptive fields and avoiding sequential dependencies.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48601</TotalTime>
  <Words>2180</Words>
  <Application>Microsoft Office PowerPoint</Application>
  <PresentationFormat>On-screen Show (4:3)</PresentationFormat>
  <Paragraphs>208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Awasthi Danish</cp:lastModifiedBy>
  <cp:revision>2304</cp:revision>
  <dcterms:created xsi:type="dcterms:W3CDTF">2010-04-09T07:36:15Z</dcterms:created>
  <dcterms:modified xsi:type="dcterms:W3CDTF">2026-05-18T05:47:20Z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